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tableStyles" Target="tableStyle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8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82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8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8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6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2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6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1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2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6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8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70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7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7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1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5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7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7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7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5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46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/>
      </p:grpSpPr>
      <p:sp>
        <p:nvSpPr>
          <p:cNvPr id="1048584" name="TextBox 1"/>
          <p:cNvSpPr txBox="1"/>
          <p:nvPr/>
        </p:nvSpPr>
        <p:spPr>
          <a:xfrm>
            <a:off x="731520" y="1234440"/>
            <a:ext cx="4525486" cy="599440"/>
          </a:xfrm>
          <a:prstGeom prst="rect"/>
          <a:noFill/>
        </p:spPr>
        <p:txBody>
          <a:bodyPr wrap="none">
            <a:spAutoFit/>
          </a:bodyPr>
          <a:p>
            <a:pPr algn="ctr">
              <a:defRPr b="1" sz="3400"/>
            </a:pPr>
            <a:r>
              <a:t>AGILE MINI-PROJECT</a:t>
            </a:r>
          </a:p>
        </p:txBody>
      </p:sp>
      <p:sp>
        <p:nvSpPr>
          <p:cNvPr id="1048585" name="TextBox 2"/>
          <p:cNvSpPr txBox="1"/>
          <p:nvPr/>
        </p:nvSpPr>
        <p:spPr>
          <a:xfrm>
            <a:off x="1057191" y="3056842"/>
            <a:ext cx="5909539" cy="1539240"/>
          </a:xfrm>
          <a:prstGeom prst="rect"/>
          <a:noFill/>
        </p:spPr>
        <p:txBody>
          <a:bodyPr wrap="none">
            <a:spAutoFit/>
          </a:bodyPr>
          <a:p>
            <a:pPr algn="ctr">
              <a:spcAft>
                <a:spcPts val="1000"/>
              </a:spcAft>
              <a:defRPr sz="2000"/>
            </a:pPr>
            <a:r>
              <a:t>Student Record and Academic Management Platform</a:t>
            </a:r>
          </a:p>
          <a:p>
            <a:pPr algn="ctr">
              <a:spcAft>
                <a:spcPts val="1000"/>
              </a:spcAft>
              <a:defRPr sz="1700"/>
            </a:pPr>
            <a:r>
              <a:t>Unit 2 – Detailed Solution Presentation</a:t>
            </a:r>
          </a:p>
          <a:p>
            <a:pPr algn="ctr">
              <a:spcAft>
                <a:spcPts val="1000"/>
              </a:spcAft>
              <a:defRPr sz="1700"/>
            </a:pPr>
            <a:r>
              <a:t>Student Name </a:t>
            </a:r>
            <a:r>
              <a:rPr altLang="en-IN" lang="en-US"/>
              <a:t>-</a:t>
            </a:r>
            <a:r>
              <a:rPr altLang="en-IN" lang="en-US"/>
              <a:t>A</a:t>
            </a:r>
            <a:r>
              <a:rPr altLang="en-IN" lang="en-US"/>
              <a:t>n</a:t>
            </a:r>
            <a:r>
              <a:rPr altLang="en-IN" lang="en-US"/>
              <a:t>s</a:t>
            </a:r>
            <a:r>
              <a:rPr altLang="en-IN" lang="en-US"/>
              <a:t>h</a:t>
            </a:r>
            <a:r>
              <a:rPr altLang="en-IN" lang="en-US"/>
              <a:t>u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K</a:t>
            </a:r>
            <a:r>
              <a:rPr altLang="en-IN" lang="en-US"/>
              <a:t>a</a:t>
            </a:r>
            <a:r>
              <a:rPr altLang="en-IN" lang="en-US"/>
              <a:t>n</a:t>
            </a:r>
            <a:r>
              <a:rPr altLang="en-IN" lang="en-US"/>
              <a:t>k</a:t>
            </a:r>
            <a:r>
              <a:rPr altLang="en-IN" lang="en-US"/>
              <a:t>rale </a:t>
            </a:r>
            <a:endParaRPr altLang="en-US" lang="zh-CN"/>
          </a:p>
          <a:p>
            <a:pPr algn="ctr">
              <a:spcAft>
                <a:spcPts val="1000"/>
              </a:spcAft>
              <a:defRPr sz="1700"/>
            </a:pPr>
            <a:r>
              <a:rPr altLang="en-IN" lang="en-US"/>
              <a:t>P</a:t>
            </a:r>
            <a:r>
              <a:rPr altLang="en-IN" lang="en-US"/>
              <a:t>R</a:t>
            </a:r>
            <a:r>
              <a:rPr altLang="en-IN" lang="en-US"/>
              <a:t>N</a:t>
            </a:r>
            <a:r>
              <a:rPr altLang="en-IN" lang="en-US"/>
              <a:t>-</a:t>
            </a:r>
            <a:r>
              <a:rPr altLang="en-IN" lang="en-US"/>
              <a:t>2</a:t>
            </a:r>
            <a:r>
              <a:rPr altLang="en-IN" lang="en-US"/>
              <a:t>1</a:t>
            </a:r>
            <a:r>
              <a:rPr altLang="en-IN" lang="en-US"/>
              <a:t>2</a:t>
            </a:r>
            <a:r>
              <a:rPr altLang="en-IN" lang="en-US"/>
              <a:t>5</a:t>
            </a:r>
            <a:r>
              <a:rPr altLang="en-IN" lang="en-US"/>
              <a:t>U</a:t>
            </a:r>
            <a:r>
              <a:rPr altLang="en-IN" lang="en-US"/>
              <a:t>D</a:t>
            </a:r>
            <a:r>
              <a:rPr altLang="en-IN" lang="en-US"/>
              <a:t>S</a:t>
            </a:r>
            <a:r>
              <a:rPr altLang="en-IN" lang="en-US"/>
              <a:t>F</a:t>
            </a:r>
            <a:r>
              <a:rPr altLang="en-IN" lang="en-US"/>
              <a:t>1</a:t>
            </a:r>
            <a:r>
              <a:rPr altLang="en-IN" lang="en-US"/>
              <a:t>1</a:t>
            </a:r>
            <a:r>
              <a:rPr altLang="en-IN" lang="en-US"/>
              <a:t>1</a:t>
            </a:r>
            <a:r>
              <a:rPr altLang="en-IN" lang="en-US"/>
              <a:t>4</a:t>
            </a:r>
            <a:endParaRPr altLang="en-US"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sp>
        <p:nvSpPr>
          <p:cNvPr id="1048586" name="Rectangle 1"/>
          <p:cNvSpPr/>
          <p:nvPr/>
        </p:nvSpPr>
        <p:spPr>
          <a:xfrm>
            <a:off x="0" y="0"/>
            <a:ext cx="12191695" cy="685800"/>
          </a:xfrm>
          <a:prstGeom prst="rect"/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7" name="TextBox 2"/>
          <p:cNvSpPr txBox="1"/>
          <p:nvPr/>
        </p:nvSpPr>
        <p:spPr>
          <a:xfrm>
            <a:off x="502920" y="109728"/>
            <a:ext cx="5503783" cy="434340"/>
          </a:xfrm>
          <a:prstGeom prst="rect"/>
          <a:noFill/>
        </p:spPr>
        <p:txBody>
          <a:bodyPr wrap="none">
            <a:spAutoFit/>
          </a:bodyPr>
          <a:p>
            <a:pPr>
              <a:defRPr b="1" sz="2300"/>
            </a:pPr>
            <a:r>
              <a:t>1. Problem Statement &amp; Proposed Solution</a:t>
            </a:r>
          </a:p>
        </p:txBody>
      </p:sp>
      <p:sp>
        <p:nvSpPr>
          <p:cNvPr id="1048588" name="TextBox 3"/>
          <p:cNvSpPr txBox="1"/>
          <p:nvPr/>
        </p:nvSpPr>
        <p:spPr>
          <a:xfrm>
            <a:off x="640080" y="896112"/>
            <a:ext cx="10927080" cy="21107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1600"/>
            </a:pPr>
            <a:r>
              <a:t>• Problem: Student records, attendance, marks, courses and reports can require scattered or manual management.</a:t>
            </a:r>
          </a:p>
          <a:p>
            <a:pPr>
              <a:spcAft>
                <a:spcPts val="900"/>
              </a:spcAft>
              <a:defRPr sz="1600"/>
            </a:pPr>
            <a:r>
              <a:t>• Manual searching, updating and report preparation can consume time and may cause inconsistencies.</a:t>
            </a:r>
          </a:p>
          <a:p>
            <a:pPr>
              <a:spcAft>
                <a:spcPts val="900"/>
              </a:spcAft>
              <a:defRPr sz="1600"/>
            </a:pPr>
            <a:r>
              <a:t>• Different users require different levels of access to academic information.</a:t>
            </a:r>
          </a:p>
          <a:p>
            <a:pPr>
              <a:spcAft>
                <a:spcPts val="900"/>
              </a:spcAft>
              <a:defRPr sz="1600"/>
            </a:pPr>
            <a:r>
              <a:t>• Solution: Develop a centralized, secure and user-friendly web-based platform.</a:t>
            </a:r>
          </a:p>
          <a:p>
            <a:pPr>
              <a:spcAft>
                <a:spcPts val="900"/>
              </a:spcAft>
              <a:defRPr sz="1600"/>
            </a:pPr>
            <a:r>
              <a:t>• The system will manage student records, courses, attendance, academic performance, notifications and reports.</a:t>
            </a:r>
          </a:p>
          <a:p>
            <a:pPr>
              <a:spcAft>
                <a:spcPts val="900"/>
              </a:spcAft>
              <a:defRPr sz="1600"/>
            </a:pPr>
            <a:r>
              <a:t>• Agile development will deliver the solution incrementally through prioritized Sprints.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/>
      </p:grpSpPr>
      <p:sp>
        <p:nvSpPr>
          <p:cNvPr id="1048589" name="Rectangle 1"/>
          <p:cNvSpPr/>
          <p:nvPr/>
        </p:nvSpPr>
        <p:spPr>
          <a:xfrm>
            <a:off x="0" y="0"/>
            <a:ext cx="12191695" cy="685800"/>
          </a:xfrm>
          <a:prstGeom prst="rect"/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0" name="TextBox 2"/>
          <p:cNvSpPr txBox="1"/>
          <p:nvPr/>
        </p:nvSpPr>
        <p:spPr>
          <a:xfrm>
            <a:off x="502920" y="109728"/>
            <a:ext cx="4879797" cy="434340"/>
          </a:xfrm>
          <a:prstGeom prst="rect"/>
          <a:noFill/>
        </p:spPr>
        <p:txBody>
          <a:bodyPr wrap="none">
            <a:spAutoFit/>
          </a:bodyPr>
          <a:p>
            <a:pPr>
              <a:defRPr b="1" sz="2300"/>
            </a:pPr>
            <a:r>
              <a:t>2. Product Vision, Objectives &amp; Users</a:t>
            </a:r>
          </a:p>
        </p:txBody>
      </p:sp>
      <p:sp>
        <p:nvSpPr>
          <p:cNvPr id="1048591" name="TextBox 3"/>
          <p:cNvSpPr txBox="1"/>
          <p:nvPr/>
        </p:nvSpPr>
        <p:spPr>
          <a:xfrm>
            <a:off x="640080" y="896112"/>
            <a:ext cx="10927080" cy="26822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1800"/>
            </a:pPr>
            <a:r>
              <a:t>• Vision: Efficiently manage student records, attendance, academic performance, course registration and reporting through one scalable platform.</a:t>
            </a:r>
          </a:p>
          <a:p>
            <a:pPr>
              <a:spcAft>
                <a:spcPts val="900"/>
              </a:spcAft>
              <a:defRPr sz="1800"/>
            </a:pPr>
            <a:r>
              <a:t>• Objectives: centralize information, reduce manual effort, improve accessibility, support accurate records and provide secure role-based access.</a:t>
            </a:r>
          </a:p>
          <a:p>
            <a:pPr>
              <a:spcAft>
                <a:spcPts val="900"/>
              </a:spcAft>
              <a:defRPr sz="1800"/>
            </a:pPr>
            <a:r>
              <a:t>• Primary users: Students, Faculty Members and Administrators.</a:t>
            </a:r>
          </a:p>
          <a:p>
            <a:pPr>
              <a:spcAft>
                <a:spcPts val="900"/>
              </a:spcAft>
              <a:defRPr sz="1800"/>
            </a:pPr>
            <a:r>
              <a:t>• Management can use organized reports for academic monitoring.</a:t>
            </a:r>
          </a:p>
          <a:p>
            <a:pPr>
              <a:spcAft>
                <a:spcPts val="900"/>
              </a:spcAft>
              <a:defRPr sz="1800"/>
            </a:pPr>
            <a:r>
              <a:t>• Success means core features work correctly, satisfy Acceptance Criteria and can be delivered as usable increments.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/>
      </p:grpSpPr>
      <p:sp>
        <p:nvSpPr>
          <p:cNvPr id="1048592" name="Rectangle 1"/>
          <p:cNvSpPr/>
          <p:nvPr/>
        </p:nvSpPr>
        <p:spPr>
          <a:xfrm>
            <a:off x="0" y="0"/>
            <a:ext cx="12191695" cy="685800"/>
          </a:xfrm>
          <a:prstGeom prst="rect"/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3" name="TextBox 2"/>
          <p:cNvSpPr txBox="1"/>
          <p:nvPr/>
        </p:nvSpPr>
        <p:spPr>
          <a:xfrm>
            <a:off x="502920" y="109728"/>
            <a:ext cx="4639042" cy="434340"/>
          </a:xfrm>
          <a:prstGeom prst="rect"/>
          <a:noFill/>
        </p:spPr>
        <p:txBody>
          <a:bodyPr wrap="none">
            <a:spAutoFit/>
          </a:bodyPr>
          <a:p>
            <a:pPr>
              <a:defRPr b="1" sz="2300"/>
            </a:pPr>
            <a:r>
              <a:t>3. Requirements &amp; System Modules</a:t>
            </a:r>
          </a:p>
        </p:txBody>
      </p:sp>
      <p:sp>
        <p:nvSpPr>
          <p:cNvPr id="1048594" name="TextBox 3"/>
          <p:cNvSpPr txBox="1"/>
          <p:nvPr/>
        </p:nvSpPr>
        <p:spPr>
          <a:xfrm>
            <a:off x="640080" y="896112"/>
            <a:ext cx="10927080" cy="27076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1600"/>
            </a:pPr>
            <a:r>
              <a:t>• Functional requirements: registration, profile management, student search/update/delete, course management, attendance, marks, authentication, notifications and reports.</a:t>
            </a:r>
          </a:p>
          <a:p>
            <a:pPr>
              <a:spcAft>
                <a:spcPts val="900"/>
              </a:spcAft>
              <a:defRPr sz="1600"/>
            </a:pPr>
            <a:r>
              <a:t>• Non-functional requirements: security, usability, performance, reliability, scalability and maintainability.</a:t>
            </a:r>
          </a:p>
          <a:p>
            <a:pPr>
              <a:spcAft>
                <a:spcPts val="900"/>
              </a:spcAft>
              <a:defRPr sz="1600"/>
            </a:pPr>
            <a:r>
              <a:t>• Student Management – registration, profiles, search, update and deletion.</a:t>
            </a:r>
          </a:p>
          <a:p>
            <a:pPr>
              <a:spcAft>
                <a:spcPts val="900"/>
              </a:spcAft>
              <a:defRPr sz="1600"/>
            </a:pPr>
            <a:r>
              <a:t>• Course Management – add/update courses, assign students and view details.</a:t>
            </a:r>
          </a:p>
          <a:p>
            <a:pPr>
              <a:spcAft>
                <a:spcPts val="900"/>
              </a:spcAft>
              <a:defRPr sz="1600"/>
            </a:pPr>
            <a:r>
              <a:t>• Attendance Management – record, view and report attendance.</a:t>
            </a:r>
          </a:p>
          <a:p>
            <a:pPr>
              <a:spcAft>
                <a:spcPts val="900"/>
              </a:spcAft>
              <a:defRPr sz="1600"/>
            </a:pPr>
            <a:r>
              <a:t>• Marks &amp; Performance – enter/update marks, calculate grades and generate results.</a:t>
            </a:r>
          </a:p>
          <a:p>
            <a:pPr>
              <a:spcAft>
                <a:spcPts val="900"/>
              </a:spcAft>
              <a:defRPr sz="1600"/>
            </a:pPr>
            <a:r>
              <a:t>• Authentication, Notifications and Reporting provide secure access, communication and organized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sp>
        <p:nvSpPr>
          <p:cNvPr id="1048595" name="Rectangle 1"/>
          <p:cNvSpPr/>
          <p:nvPr/>
        </p:nvSpPr>
        <p:spPr>
          <a:xfrm>
            <a:off x="0" y="0"/>
            <a:ext cx="12191695" cy="685800"/>
          </a:xfrm>
          <a:prstGeom prst="rect"/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6" name="TextBox 2"/>
          <p:cNvSpPr txBox="1"/>
          <p:nvPr/>
        </p:nvSpPr>
        <p:spPr>
          <a:xfrm>
            <a:off x="502920" y="109728"/>
            <a:ext cx="4389160" cy="434340"/>
          </a:xfrm>
          <a:prstGeom prst="rect"/>
          <a:noFill/>
        </p:spPr>
        <p:txBody>
          <a:bodyPr wrap="none">
            <a:spAutoFit/>
          </a:bodyPr>
          <a:p>
            <a:pPr>
              <a:defRPr b="1" sz="2300"/>
            </a:pPr>
            <a:r>
              <a:t>4. Scrum Team &amp; Responsibilities</a:t>
            </a:r>
          </a:p>
        </p:txBody>
      </p:sp>
      <p:sp>
        <p:nvSpPr>
          <p:cNvPr id="1048597" name="TextBox 3"/>
          <p:cNvSpPr txBox="1"/>
          <p:nvPr/>
        </p:nvSpPr>
        <p:spPr>
          <a:xfrm>
            <a:off x="640080" y="896112"/>
            <a:ext cx="10927080" cy="23012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1800"/>
            </a:pPr>
            <a:r>
              <a:t>• Product Owner: defines requirements, prioritizes the Product Backlog, represents stakeholder interests and accepts completed work.</a:t>
            </a:r>
          </a:p>
          <a:p>
            <a:pPr>
              <a:spcAft>
                <a:spcPts val="900"/>
              </a:spcAft>
              <a:defRPr sz="1800"/>
            </a:pPr>
            <a:r>
              <a:t>• Scrum Master: facilitates Scrum ceremonies, removes impediments, supports collaboration and ensures Agile practices are followed.</a:t>
            </a:r>
          </a:p>
          <a:p>
            <a:pPr>
              <a:spcAft>
                <a:spcPts val="900"/>
              </a:spcAft>
              <a:defRPr sz="1800"/>
            </a:pPr>
            <a:r>
              <a:t>• Development Team: designs the application, writes code, tests software, prepares documentation and demonstrates completed features.</a:t>
            </a:r>
          </a:p>
          <a:p>
            <a:pPr>
              <a:spcAft>
                <a:spcPts val="900"/>
              </a:spcAft>
              <a:defRPr sz="1800"/>
            </a:pPr>
            <a:r>
              <a:t>• Stakeholder feedback is incorporated through Sprint Reviews and future backlog prioritization.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/>
      </p:grpSpPr>
      <p:sp>
        <p:nvSpPr>
          <p:cNvPr id="1048598" name="Rectangle 1"/>
          <p:cNvSpPr/>
          <p:nvPr/>
        </p:nvSpPr>
        <p:spPr>
          <a:xfrm>
            <a:off x="0" y="0"/>
            <a:ext cx="12191695" cy="685800"/>
          </a:xfrm>
          <a:prstGeom prst="rect"/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9" name="TextBox 2"/>
          <p:cNvSpPr txBox="1"/>
          <p:nvPr/>
        </p:nvSpPr>
        <p:spPr>
          <a:xfrm>
            <a:off x="502920" y="109728"/>
            <a:ext cx="5983060" cy="434340"/>
          </a:xfrm>
          <a:prstGeom prst="rect"/>
          <a:noFill/>
        </p:spPr>
        <p:txBody>
          <a:bodyPr wrap="none">
            <a:spAutoFit/>
          </a:bodyPr>
          <a:p>
            <a:pPr>
              <a:defRPr b="1" sz="2300"/>
            </a:pPr>
            <a:r>
              <a:t>5. Epics → User Stories → Acceptance Criteria</a:t>
            </a:r>
          </a:p>
        </p:txBody>
      </p:sp>
      <p:sp>
        <p:nvSpPr>
          <p:cNvPr id="1048600" name="TextBox 3"/>
          <p:cNvSpPr txBox="1"/>
          <p:nvPr/>
        </p:nvSpPr>
        <p:spPr>
          <a:xfrm>
            <a:off x="640080" y="896112"/>
            <a:ext cx="10927080" cy="28346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1600"/>
            </a:pPr>
            <a:r>
              <a:t>• Epic: Student Management → Story: As an Administrator, I want to add a student so that the student's record is available in the system.</a:t>
            </a:r>
          </a:p>
          <a:p>
            <a:pPr>
              <a:spcAft>
                <a:spcPts val="900"/>
              </a:spcAft>
              <a:defRPr sz="1600"/>
            </a:pPr>
            <a:r>
              <a:t>• Epic: Attendance → Story: As a Faculty Member, I want to record attendance so that attendance remains accurate and updated.</a:t>
            </a:r>
          </a:p>
          <a:p>
            <a:pPr>
              <a:spcAft>
                <a:spcPts val="900"/>
              </a:spcAft>
              <a:defRPr sz="1600"/>
            </a:pPr>
            <a:r>
              <a:t>• Epic: Authentication → Story: As a registered user, I want to log in so that I can securely access my dashboard.</a:t>
            </a:r>
          </a:p>
          <a:p>
            <a:pPr>
              <a:spcAft>
                <a:spcPts val="900"/>
              </a:spcAft>
              <a:defRPr sz="1600"/>
            </a:pPr>
            <a:r>
              <a:t>• Attendance Acceptance Criteria: select course; select lecture date; mark attendance; save records; generate reports.</a:t>
            </a:r>
          </a:p>
          <a:p>
            <a:pPr>
              <a:spcAft>
                <a:spcPts val="900"/>
              </a:spcAft>
              <a:defRPr sz="1600"/>
            </a:pPr>
            <a:r>
              <a:t>• Login Acceptance Criteria: page loads; valid users can log in; invalid credentials show an error; successful login opens dashboard; session works correctly.</a:t>
            </a:r>
          </a:p>
          <a:p>
            <a:pPr>
              <a:spcAft>
                <a:spcPts val="900"/>
              </a:spcAft>
              <a:defRPr sz="1600"/>
            </a:pPr>
            <a:r>
              <a:t>• Acceptance Criteria provide measurable conditions for deciding whether a User Story is complete.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/>
      </p:grpSpPr>
      <p:sp>
        <p:nvSpPr>
          <p:cNvPr id="1048601" name="Rectangle 1"/>
          <p:cNvSpPr/>
          <p:nvPr/>
        </p:nvSpPr>
        <p:spPr>
          <a:xfrm>
            <a:off x="0" y="0"/>
            <a:ext cx="12191695" cy="685800"/>
          </a:xfrm>
          <a:prstGeom prst="rect"/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2" name="TextBox 2"/>
          <p:cNvSpPr txBox="1"/>
          <p:nvPr/>
        </p:nvSpPr>
        <p:spPr>
          <a:xfrm>
            <a:off x="502920" y="109728"/>
            <a:ext cx="4085154" cy="434340"/>
          </a:xfrm>
          <a:prstGeom prst="rect"/>
          <a:noFill/>
        </p:spPr>
        <p:txBody>
          <a:bodyPr wrap="none">
            <a:spAutoFit/>
          </a:bodyPr>
          <a:p>
            <a:pPr>
              <a:defRPr b="1" sz="2300"/>
            </a:pPr>
            <a:r>
              <a:t>6. Product Backlog &amp; Priorities</a:t>
            </a:r>
          </a:p>
        </p:txBody>
      </p:sp>
      <p:sp>
        <p:nvSpPr>
          <p:cNvPr id="1048603" name="TextBox 3"/>
          <p:cNvSpPr txBox="1"/>
          <p:nvPr/>
        </p:nvSpPr>
        <p:spPr>
          <a:xfrm>
            <a:off x="640080" y="896112"/>
            <a:ext cx="10927080" cy="21107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1600"/>
            </a:pPr>
            <a:r>
              <a:t>• High Priority: User Login, Add Student, Search Student, Record Attendance.</a:t>
            </a:r>
          </a:p>
          <a:p>
            <a:pPr>
              <a:spcAft>
                <a:spcPts val="900"/>
              </a:spcAft>
              <a:defRPr sz="1600"/>
            </a:pPr>
            <a:r>
              <a:t>• Medium Priority: Add Course, Attendance Report, Attendance Alert.</a:t>
            </a:r>
          </a:p>
          <a:p>
            <a:pPr>
              <a:spcAft>
                <a:spcPts val="900"/>
              </a:spcAft>
              <a:defRPr sz="1600"/>
            </a:pPr>
            <a:r>
              <a:t>• Low Priority: Academic Analytics Dashboard.</a:t>
            </a:r>
          </a:p>
          <a:p>
            <a:pPr>
              <a:spcAft>
                <a:spcPts val="900"/>
              </a:spcAft>
              <a:defRPr sz="1600"/>
            </a:pPr>
            <a:r>
              <a:t>• Prioritization considers business value, user importance, technical dependencies and implementation complexity.</a:t>
            </a:r>
          </a:p>
          <a:p>
            <a:pPr>
              <a:spcAft>
                <a:spcPts val="900"/>
              </a:spcAft>
              <a:defRPr sz="1600"/>
            </a:pPr>
            <a:r>
              <a:t>• High-value core functionality is developed first so the team can deliver useful increments early.</a:t>
            </a:r>
          </a:p>
          <a:p>
            <a:pPr>
              <a:spcAft>
                <a:spcPts val="900"/>
              </a:spcAft>
              <a:defRPr sz="1600"/>
            </a:pPr>
            <a:r>
              <a:t>• Backlog priorities can be refined as stakeholder feedback and project needs change.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/>
      </p:grpSpPr>
      <p:sp>
        <p:nvSpPr>
          <p:cNvPr id="1048604" name="Rectangle 1"/>
          <p:cNvSpPr/>
          <p:nvPr/>
        </p:nvSpPr>
        <p:spPr>
          <a:xfrm>
            <a:off x="0" y="0"/>
            <a:ext cx="12191695" cy="685800"/>
          </a:xfrm>
          <a:prstGeom prst="rect"/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5" name="TextBox 2"/>
          <p:cNvSpPr txBox="1"/>
          <p:nvPr/>
        </p:nvSpPr>
        <p:spPr>
          <a:xfrm>
            <a:off x="502920" y="109728"/>
            <a:ext cx="4238943" cy="434340"/>
          </a:xfrm>
          <a:prstGeom prst="rect"/>
          <a:noFill/>
        </p:spPr>
        <p:txBody>
          <a:bodyPr wrap="none">
            <a:spAutoFit/>
          </a:bodyPr>
          <a:p>
            <a:pPr>
              <a:defRPr b="1" sz="2300"/>
            </a:pPr>
            <a:r>
              <a:t>7. MVP &amp; Story Point Estimation</a:t>
            </a:r>
          </a:p>
        </p:txBody>
      </p:sp>
      <p:sp>
        <p:nvSpPr>
          <p:cNvPr id="1048606" name="TextBox 3"/>
          <p:cNvSpPr txBox="1"/>
          <p:nvPr/>
        </p:nvSpPr>
        <p:spPr>
          <a:xfrm>
            <a:off x="640080" y="896112"/>
            <a:ext cx="10927080" cy="24155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1800"/>
            </a:pPr>
            <a:r>
              <a:t>• MVP: secure login, basic student management, basic course management, attendance recording/viewing and essential academic information.</a:t>
            </a:r>
          </a:p>
          <a:p>
            <a:pPr>
              <a:spcAft>
                <a:spcPts val="900"/>
              </a:spcAft>
              <a:defRPr sz="1800"/>
            </a:pPr>
            <a:r>
              <a:t>• Story Points represent relative effort and complexity rather than exact hours.</a:t>
            </a:r>
          </a:p>
          <a:p>
            <a:pPr>
              <a:spcAft>
                <a:spcPts val="900"/>
              </a:spcAft>
              <a:defRPr sz="1800"/>
            </a:pPr>
            <a:r>
              <a:t>• Scale: 1 Very Easy | 2 Easy | 3 Moderate | 5 Difficult | 8 Very Difficult | 13 Highly Complex.</a:t>
            </a:r>
          </a:p>
          <a:p>
            <a:pPr>
              <a:spcAft>
                <a:spcPts val="900"/>
              </a:spcAft>
              <a:defRPr sz="1800"/>
            </a:pPr>
            <a:r>
              <a:t>• Example estimates: Login – 3; Add Student – 3; Search Student – 2; Record Attendance – 5; Attendance Report – 5; Analytics Dashboard – 8.</a:t>
            </a:r>
          </a:p>
          <a:p>
            <a:pPr>
              <a:spcAft>
                <a:spcPts val="900"/>
              </a:spcAft>
              <a:defRPr sz="1800"/>
            </a:pPr>
            <a:r>
              <a:t>• Planning Poker can be used for collaborative estimation.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/>
      </p:grpSpPr>
      <p:sp>
        <p:nvSpPr>
          <p:cNvPr id="1048607" name="Rectangle 1"/>
          <p:cNvSpPr/>
          <p:nvPr/>
        </p:nvSpPr>
        <p:spPr>
          <a:xfrm>
            <a:off x="0" y="0"/>
            <a:ext cx="12191695" cy="685800"/>
          </a:xfrm>
          <a:prstGeom prst="rect"/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8" name="TextBox 2"/>
          <p:cNvSpPr txBox="1"/>
          <p:nvPr/>
        </p:nvSpPr>
        <p:spPr>
          <a:xfrm>
            <a:off x="502920" y="109728"/>
            <a:ext cx="3776831" cy="434340"/>
          </a:xfrm>
          <a:prstGeom prst="rect"/>
          <a:noFill/>
        </p:spPr>
        <p:txBody>
          <a:bodyPr wrap="none">
            <a:spAutoFit/>
          </a:bodyPr>
          <a:p>
            <a:pPr>
              <a:defRPr b="1" sz="2300"/>
            </a:pPr>
            <a:r>
              <a:t>8. Sprint Plan &amp; Deliverables</a:t>
            </a:r>
          </a:p>
        </p:txBody>
      </p:sp>
      <p:sp>
        <p:nvSpPr>
          <p:cNvPr id="1048609" name="TextBox 3"/>
          <p:cNvSpPr txBox="1"/>
          <p:nvPr/>
        </p:nvSpPr>
        <p:spPr>
          <a:xfrm>
            <a:off x="640080" y="896112"/>
            <a:ext cx="10927080" cy="21488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1800"/>
            </a:pPr>
            <a:r>
              <a:t>• Sprint 1 – Authentication &amp; Setup: repository initialization, registration, login, basic UI and testing.</a:t>
            </a:r>
          </a:p>
          <a:p>
            <a:pPr>
              <a:spcAft>
                <a:spcPts val="900"/>
              </a:spcAft>
              <a:defRPr sz="1800"/>
            </a:pPr>
            <a:r>
              <a:t>• Sprint 2 – Student Management: add, search, update and delete student records, followed by testing.</a:t>
            </a:r>
          </a:p>
          <a:p>
            <a:pPr>
              <a:spcAft>
                <a:spcPts val="900"/>
              </a:spcAft>
              <a:defRPr sz="1800"/>
            </a:pPr>
            <a:r>
              <a:t>• Sprint 3 – Course &amp; Attendance: add course, assign courses, record attendance and generate attendance reports.</a:t>
            </a:r>
          </a:p>
          <a:p>
            <a:pPr>
              <a:spcAft>
                <a:spcPts val="900"/>
              </a:spcAft>
              <a:defRPr sz="1800"/>
            </a:pPr>
            <a:r>
              <a:t>• Each Sprint has a clear goal, selected Sprint Backlog and expected demonstrable increment.</a:t>
            </a:r>
          </a:p>
          <a:p>
            <a:pPr>
              <a:spcAft>
                <a:spcPts val="900"/>
              </a:spcAft>
              <a:defRPr sz="1800"/>
            </a:pPr>
            <a:r>
              <a:t>• Testing is included within Sprint work rather than postponed until the 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/>
      </p:grpSpPr>
      <p:sp>
        <p:nvSpPr>
          <p:cNvPr id="1048610" name="Rectangle 1"/>
          <p:cNvSpPr/>
          <p:nvPr/>
        </p:nvSpPr>
        <p:spPr>
          <a:xfrm>
            <a:off x="0" y="0"/>
            <a:ext cx="12191695" cy="685800"/>
          </a:xfrm>
          <a:prstGeom prst="rect"/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1" name="TextBox 2"/>
          <p:cNvSpPr txBox="1"/>
          <p:nvPr/>
        </p:nvSpPr>
        <p:spPr>
          <a:xfrm>
            <a:off x="502920" y="109728"/>
            <a:ext cx="3991442" cy="434340"/>
          </a:xfrm>
          <a:prstGeom prst="rect"/>
          <a:noFill/>
        </p:spPr>
        <p:txBody>
          <a:bodyPr wrap="none">
            <a:spAutoFit/>
          </a:bodyPr>
          <a:p>
            <a:pPr>
              <a:defRPr b="1" sz="2300"/>
            </a:pPr>
            <a:r>
              <a:t>9. Scrum Board &amp; Ceremonies</a:t>
            </a:r>
          </a:p>
        </p:txBody>
      </p:sp>
      <p:sp>
        <p:nvSpPr>
          <p:cNvPr id="1048612" name="TextBox 3"/>
          <p:cNvSpPr txBox="1"/>
          <p:nvPr/>
        </p:nvSpPr>
        <p:spPr>
          <a:xfrm>
            <a:off x="640080" y="896112"/>
            <a:ext cx="10927080" cy="21107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1600"/>
            </a:pPr>
            <a:r>
              <a:t>• Scrum Board workflow: BACKLOG → TO DO → IN PROGRESS → TESTING → COMPLETED.</a:t>
            </a:r>
          </a:p>
          <a:p>
            <a:pPr>
              <a:spcAft>
                <a:spcPts val="900"/>
              </a:spcAft>
              <a:defRPr sz="1600"/>
            </a:pPr>
            <a:r>
              <a:t>• Sprint Planning: select User Stories, estimate effort and define the Sprint Goal.</a:t>
            </a:r>
          </a:p>
          <a:p>
            <a:pPr>
              <a:spcAft>
                <a:spcPts val="900"/>
              </a:spcAft>
              <a:defRPr sz="1600"/>
            </a:pPr>
            <a:r>
              <a:t>• Daily Scrum: discuss what was completed, what will be done today and current challenges.</a:t>
            </a:r>
          </a:p>
          <a:p>
            <a:pPr>
              <a:spcAft>
                <a:spcPts val="900"/>
              </a:spcAft>
              <a:defRPr sz="1600"/>
            </a:pPr>
            <a:r>
              <a:t>• Sprint Review: demonstrate completed features and collect stakeholder feedback.</a:t>
            </a:r>
          </a:p>
          <a:p>
            <a:pPr>
              <a:spcAft>
                <a:spcPts val="900"/>
              </a:spcAft>
              <a:defRPr sz="1600"/>
            </a:pPr>
            <a:r>
              <a:t>• Sprint Retrospective: identify what went well, challenges and improvements for the next Sprint.</a:t>
            </a:r>
          </a:p>
          <a:p>
            <a:pPr>
              <a:spcAft>
                <a:spcPts val="900"/>
              </a:spcAft>
              <a:defRPr sz="1600"/>
            </a:pPr>
            <a:r>
              <a:t>• Burndown Chart: track remaining Sprint work against time to visualize progress.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/>
      </p:grpSpPr>
      <p:sp>
        <p:nvSpPr>
          <p:cNvPr id="1048613" name="Rectangle 1"/>
          <p:cNvSpPr/>
          <p:nvPr/>
        </p:nvSpPr>
        <p:spPr>
          <a:xfrm>
            <a:off x="0" y="0"/>
            <a:ext cx="12191695" cy="685800"/>
          </a:xfrm>
          <a:prstGeom prst="rect"/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4" name="TextBox 2"/>
          <p:cNvSpPr txBox="1"/>
          <p:nvPr/>
        </p:nvSpPr>
        <p:spPr>
          <a:xfrm>
            <a:off x="502920" y="109728"/>
            <a:ext cx="6899940" cy="434340"/>
          </a:xfrm>
          <a:prstGeom prst="rect"/>
          <a:noFill/>
        </p:spPr>
        <p:txBody>
          <a:bodyPr wrap="none">
            <a:spAutoFit/>
          </a:bodyPr>
          <a:p>
            <a:pPr>
              <a:defRPr b="1" sz="2300"/>
            </a:pPr>
            <a:r>
              <a:t>10. Agile Framework Comparison &amp; Recommendation</a:t>
            </a:r>
          </a:p>
        </p:txBody>
      </p:sp>
      <p:sp>
        <p:nvSpPr>
          <p:cNvPr id="1048615" name="TextBox 3"/>
          <p:cNvSpPr txBox="1"/>
          <p:nvPr/>
        </p:nvSpPr>
        <p:spPr>
          <a:xfrm>
            <a:off x="640080" y="896112"/>
            <a:ext cx="10927080" cy="23520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1600"/>
            </a:pPr>
            <a:r>
              <a:t>• Scrum: Sprint-based development with defined roles, events and Product Backlog.</a:t>
            </a:r>
          </a:p>
          <a:p>
            <a:pPr>
              <a:spcAft>
                <a:spcPts val="900"/>
              </a:spcAft>
              <a:defRPr sz="1600"/>
            </a:pPr>
            <a:r>
              <a:t>• Kanban: visual workflow and continuous flow of work.</a:t>
            </a:r>
          </a:p>
          <a:p>
            <a:pPr>
              <a:spcAft>
                <a:spcPts val="900"/>
              </a:spcAft>
              <a:defRPr sz="1600"/>
            </a:pPr>
            <a:r>
              <a:t>• XP: strong emphasis on engineering practices, testing and frequent feedback.</a:t>
            </a:r>
          </a:p>
          <a:p>
            <a:pPr>
              <a:spcAft>
                <a:spcPts val="900"/>
              </a:spcAft>
              <a:defRPr sz="1600"/>
            </a:pPr>
            <a:r>
              <a:t>• Lean: focuses on value delivery and reducing waste.</a:t>
            </a:r>
          </a:p>
          <a:p>
            <a:pPr>
              <a:spcAft>
                <a:spcPts val="900"/>
              </a:spcAft>
              <a:defRPr sz="1600"/>
            </a:pPr>
            <a:r>
              <a:t>• LeSS, SAFe and Scrum@Scale provide approaches for scaling Agile across multiple teams or larger organizations.</a:t>
            </a:r>
          </a:p>
          <a:p>
            <a:pPr>
              <a:spcAft>
                <a:spcPts val="900"/>
              </a:spcAft>
              <a:defRPr sz="1600"/>
            </a:pPr>
            <a:r>
              <a:t>• Recommendation: Scrum is most suitable for this project because the assignment is Sprint-oriented and already defines Scrum roles, ceremonies, backlog and incremental delivery.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/>
      </p:grpSpPr>
      <p:sp>
        <p:nvSpPr>
          <p:cNvPr id="1048616" name="Rectangle 1"/>
          <p:cNvSpPr/>
          <p:nvPr/>
        </p:nvSpPr>
        <p:spPr>
          <a:xfrm>
            <a:off x="0" y="0"/>
            <a:ext cx="12191695" cy="685800"/>
          </a:xfrm>
          <a:prstGeom prst="rect"/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7" name="TextBox 2"/>
          <p:cNvSpPr txBox="1"/>
          <p:nvPr/>
        </p:nvSpPr>
        <p:spPr>
          <a:xfrm>
            <a:off x="502920" y="109728"/>
            <a:ext cx="5995164" cy="434340"/>
          </a:xfrm>
          <a:prstGeom prst="rect"/>
          <a:noFill/>
        </p:spPr>
        <p:txBody>
          <a:bodyPr wrap="none">
            <a:spAutoFit/>
          </a:bodyPr>
          <a:p>
            <a:pPr>
              <a:defRPr b="1" sz="2300"/>
            </a:pPr>
            <a:r>
              <a:t>11. Solution Workflow, Benefits &amp; Future Scope</a:t>
            </a:r>
          </a:p>
        </p:txBody>
      </p:sp>
      <p:sp>
        <p:nvSpPr>
          <p:cNvPr id="1048618" name="TextBox 3"/>
          <p:cNvSpPr txBox="1"/>
          <p:nvPr/>
        </p:nvSpPr>
        <p:spPr>
          <a:xfrm>
            <a:off x="640080" y="896112"/>
            <a:ext cx="10927080" cy="29489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1800"/>
            </a:pPr>
            <a:r>
              <a:t>• Workflow: User Login → Role Verification → Dashboard → Student/Course/Attendance/Academic modules → Reports &amp; Notifications.</a:t>
            </a:r>
          </a:p>
          <a:p>
            <a:pPr>
              <a:spcAft>
                <a:spcPts val="900"/>
              </a:spcAft>
              <a:defRPr sz="1800"/>
            </a:pPr>
            <a:r>
              <a:t>• Benefits: centralized records, reduced manual work, easier searching and updating, faster report preparation and improved access control.</a:t>
            </a:r>
          </a:p>
          <a:p>
            <a:pPr>
              <a:spcAft>
                <a:spcPts val="900"/>
              </a:spcAft>
              <a:defRPr sz="1800"/>
            </a:pPr>
            <a:r>
              <a:t>• Risk handling: refine backlog for changing requirements, identify dependencies early, split complex stories, test within Sprints and control scope around the MVP.</a:t>
            </a:r>
          </a:p>
          <a:p>
            <a:pPr>
              <a:spcAft>
                <a:spcPts val="900"/>
              </a:spcAft>
              <a:defRPr sz="1800"/>
            </a:pPr>
            <a:r>
              <a:t>• Future scope: advanced academic analytics, expanded reporting, additional notifications and integration with other institutional systems.</a:t>
            </a:r>
          </a:p>
          <a:p>
            <a:pPr>
              <a:spcAft>
                <a:spcPts val="900"/>
              </a:spcAft>
              <a:defRPr sz="1800"/>
            </a:pPr>
            <a:r>
              <a:t>• The roadmap can be refined using stakeholder feedback and future Product Backlog items.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/>
      </p:grpSpPr>
      <p:sp>
        <p:nvSpPr>
          <p:cNvPr id="1048619" name="Rectangle 1"/>
          <p:cNvSpPr/>
          <p:nvPr/>
        </p:nvSpPr>
        <p:spPr>
          <a:xfrm>
            <a:off x="0" y="0"/>
            <a:ext cx="12191695" cy="685800"/>
          </a:xfrm>
          <a:prstGeom prst="rect"/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0" name="TextBox 2"/>
          <p:cNvSpPr txBox="1"/>
          <p:nvPr/>
        </p:nvSpPr>
        <p:spPr>
          <a:xfrm>
            <a:off x="502920" y="109728"/>
            <a:ext cx="3897481" cy="434340"/>
          </a:xfrm>
          <a:prstGeom prst="rect"/>
          <a:noFill/>
        </p:spPr>
        <p:txBody>
          <a:bodyPr wrap="none">
            <a:spAutoFit/>
          </a:bodyPr>
          <a:p>
            <a:pPr>
              <a:defRPr b="1" sz="2300"/>
            </a:pPr>
            <a:r>
              <a:t>12. Conclusion &amp; Deliverables</a:t>
            </a:r>
          </a:p>
        </p:txBody>
      </p:sp>
      <p:sp>
        <p:nvSpPr>
          <p:cNvPr id="1048621" name="TextBox 3"/>
          <p:cNvSpPr txBox="1"/>
          <p:nvPr/>
        </p:nvSpPr>
        <p:spPr>
          <a:xfrm>
            <a:off x="640080" y="896112"/>
            <a:ext cx="10927080" cy="25933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1600"/>
            </a:pPr>
            <a:r>
              <a:t>• The proposed platform provides a centralized approach to student record and academic management.</a:t>
            </a:r>
          </a:p>
          <a:p>
            <a:pPr>
              <a:spcAft>
                <a:spcPts val="900"/>
              </a:spcAft>
              <a:defRPr sz="1600"/>
            </a:pPr>
            <a:r>
              <a:t>• Agile converts the project into manageable Epics, User Stories and prioritized Sprints.</a:t>
            </a:r>
          </a:p>
          <a:p>
            <a:pPr>
              <a:spcAft>
                <a:spcPts val="900"/>
              </a:spcAft>
              <a:defRPr sz="1600"/>
            </a:pPr>
            <a:r>
              <a:t>• Acceptance Criteria define measurable completion conditions.</a:t>
            </a:r>
          </a:p>
          <a:p>
            <a:pPr>
              <a:spcAft>
                <a:spcPts val="900"/>
              </a:spcAft>
              <a:defRPr sz="1600"/>
            </a:pPr>
            <a:r>
              <a:t>• Scrum supports transparency, incremental delivery, feedback and continuous improvement.</a:t>
            </a:r>
          </a:p>
          <a:p>
            <a:pPr>
              <a:spcAft>
                <a:spcPts val="900"/>
              </a:spcAft>
              <a:defRPr sz="1600"/>
            </a:pPr>
            <a:r>
              <a:t>• Key deliverables: Product Vision, Scrum Team Structure, Epics, User Stories, Acceptance Criteria, Product Backlog, Story Points, Sprint Plan, Scrum Board, Burndown Chart, Sprint Review, Retrospective, Framework Comparison and Release Roadmap.</a:t>
            </a:r>
          </a:p>
          <a:p>
            <a:pPr>
              <a:spcAft>
                <a:spcPts val="900"/>
              </a:spcAft>
              <a:defRPr sz="1600"/>
            </a:pPr>
            <a:r>
              <a:t>• Final outcome: an organized, secure and incrementally developed academic management solution.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/>
      </p:grpSpPr>
      <p:sp>
        <p:nvSpPr>
          <p:cNvPr id="1048622" name="Rectangle 1"/>
          <p:cNvSpPr/>
          <p:nvPr/>
        </p:nvSpPr>
        <p:spPr>
          <a:xfrm>
            <a:off x="0" y="0"/>
            <a:ext cx="12191695" cy="685800"/>
          </a:xfrm>
          <a:prstGeom prst="rect"/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CPH2721</dc:creator>
  <cp:lastModifiedBy>Steve Canny</cp:lastModifiedBy>
  <dcterms:created xsi:type="dcterms:W3CDTF">2013-01-26T22:14:16Z</dcterms:created>
  <dcterms:modified xsi:type="dcterms:W3CDTF">2026-09-06T12:07:31Z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b362a4ff31b34c50b18f8171bed0cfb3_23</vt:lpwstr>
  </property>
</Properties>
</file>